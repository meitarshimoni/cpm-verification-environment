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62" r:id="rId3"/>
    <p:sldId id="267" r:id="rId4"/>
    <p:sldId id="257" r:id="rId5"/>
    <p:sldId id="258" r:id="rId6"/>
    <p:sldId id="259" r:id="rId7"/>
    <p:sldId id="266" r:id="rId8"/>
    <p:sldId id="260" r:id="rId9"/>
    <p:sldId id="261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DM Sans" pitchFamily="2" charset="0"/>
      <p:regular r:id="rId19"/>
      <p:bold r:id="rId20"/>
      <p:italic r:id="rId21"/>
    </p:embeddedFont>
    <p:embeddedFont>
      <p:font typeface="DM Sans Bold" charset="0"/>
      <p:bold r:id="rId22"/>
    </p:embeddedFont>
    <p:embeddedFont>
      <p:font typeface="PT Serif" panose="020A0603040505020204" pitchFamily="18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51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73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17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Google and Reichman Tech School | Reichman University">
            <a:extLst>
              <a:ext uri="{FF2B5EF4-FFF2-40B4-BE49-F238E27FC236}">
                <a16:creationId xmlns:a16="http://schemas.microsoft.com/office/drawing/2014/main" id="{6E2C694E-F2F3-90B1-4340-0CB2729C2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496" y="7346373"/>
            <a:ext cx="3987904" cy="88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1575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2016"/>
            <a:ext cx="13042821" cy="1020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UVM Verification Final Project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967109"/>
            <a:ext cx="13042821" cy="214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demonstrated a full UVM Environment build for a CPM </a:t>
            </a:r>
            <a:r>
              <a:rPr lang="en-US" sz="2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dut</a:t>
            </a: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RAL, Coverage, Assertions, Reference Model, Scoreboard etc.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A197FE-4A56-74A6-4703-EF1B6FE4A84A}"/>
              </a:ext>
            </a:extLst>
          </p:cNvPr>
          <p:cNvSpPr/>
          <p:nvPr/>
        </p:nvSpPr>
        <p:spPr>
          <a:xfrm>
            <a:off x="793790" y="1872858"/>
            <a:ext cx="13042821" cy="1020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Chip Design &amp; Verification Course</a:t>
            </a:r>
          </a:p>
          <a:p>
            <a:pPr marL="0" indent="0" algn="ctr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Author: Meitar Shimoni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>
            <a:extLst>
              <a:ext uri="{FF2B5EF4-FFF2-40B4-BE49-F238E27FC236}">
                <a16:creationId xmlns:a16="http://schemas.microsoft.com/office/drawing/2014/main" id="{F5816E57-7A59-4AFC-6389-50B1412D8879}"/>
              </a:ext>
            </a:extLst>
          </p:cNvPr>
          <p:cNvSpPr/>
          <p:nvPr/>
        </p:nvSpPr>
        <p:spPr>
          <a:xfrm>
            <a:off x="563526" y="5178694"/>
            <a:ext cx="13358333" cy="1666614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59713621-470D-9940-8FE1-012FA3A3CBD1}"/>
              </a:ext>
            </a:extLst>
          </p:cNvPr>
          <p:cNvSpPr/>
          <p:nvPr/>
        </p:nvSpPr>
        <p:spPr>
          <a:xfrm>
            <a:off x="563526" y="3106448"/>
            <a:ext cx="13363445" cy="1833275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E3424041-BD23-4494-7599-66577B847435}"/>
              </a:ext>
            </a:extLst>
          </p:cNvPr>
          <p:cNvSpPr/>
          <p:nvPr/>
        </p:nvSpPr>
        <p:spPr>
          <a:xfrm>
            <a:off x="563526" y="1707995"/>
            <a:ext cx="13358333" cy="1172763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" name="Text 0"/>
          <p:cNvSpPr/>
          <p:nvPr/>
        </p:nvSpPr>
        <p:spPr>
          <a:xfrm>
            <a:off x="708541" y="764381"/>
            <a:ext cx="8442603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Verification Requirements &amp; Deliverables</a:t>
            </a:r>
            <a:endParaRPr lang="en-US" sz="4150" dirty="0"/>
          </a:p>
        </p:txBody>
      </p:sp>
      <p:sp>
        <p:nvSpPr>
          <p:cNvPr id="6" name="Text 4"/>
          <p:cNvSpPr/>
          <p:nvPr/>
        </p:nvSpPr>
        <p:spPr>
          <a:xfrm>
            <a:off x="708541" y="1867615"/>
            <a:ext cx="5836638" cy="39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Complete System Flow Orchestration</a:t>
            </a:r>
            <a:endParaRPr lang="en-US" sz="25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6E1B34D-D7AB-3C5B-A8B7-D32BCE448B0B}"/>
              </a:ext>
            </a:extLst>
          </p:cNvPr>
          <p:cNvSpPr/>
          <p:nvPr/>
        </p:nvSpPr>
        <p:spPr>
          <a:xfrm>
            <a:off x="708541" y="2405020"/>
            <a:ext cx="1321331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Reset -&gt; Configure -&gt; Traffic -&gt; reconfigure -&gt; Stress -&gt; Drop -&gt; Readback -&gt; End</a:t>
            </a:r>
            <a:endParaRPr lang="en-US" sz="155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89FD153-2B6E-2C4B-9C42-9E9665473681}"/>
              </a:ext>
            </a:extLst>
          </p:cNvPr>
          <p:cNvSpPr/>
          <p:nvPr/>
        </p:nvSpPr>
        <p:spPr>
          <a:xfrm>
            <a:off x="708540" y="5156416"/>
            <a:ext cx="5836638" cy="39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SVA</a:t>
            </a:r>
            <a:endParaRPr lang="en-US" sz="25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D21E7DC-97D9-71EA-7143-C93BD28E5567}"/>
              </a:ext>
            </a:extLst>
          </p:cNvPr>
          <p:cNvSpPr/>
          <p:nvPr/>
        </p:nvSpPr>
        <p:spPr>
          <a:xfrm>
            <a:off x="708541" y="3679142"/>
            <a:ext cx="4251603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Coverpoint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MODE</a:t>
            </a:r>
            <a:endParaRPr lang="en-US" sz="175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Coverpoint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OPCODE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Cross: MODE x OPCODE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E640561-DB28-71DB-A8AB-F55BF1918FBE}"/>
              </a:ext>
            </a:extLst>
          </p:cNvPr>
          <p:cNvSpPr/>
          <p:nvPr/>
        </p:nvSpPr>
        <p:spPr>
          <a:xfrm>
            <a:off x="4419377" y="3679142"/>
            <a:ext cx="4251603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Event Coverage</a:t>
            </a:r>
            <a:endParaRPr lang="en-US" sz="175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Stall/Backpressure</a:t>
            </a:r>
          </a:p>
          <a:p>
            <a:pPr>
              <a:lnSpc>
                <a:spcPts val="2850"/>
              </a:lnSpc>
              <a:buSzPct val="100000"/>
            </a:pP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DB27D79-704E-23BE-A10D-9591C69FF2C7}"/>
              </a:ext>
            </a:extLst>
          </p:cNvPr>
          <p:cNvSpPr/>
          <p:nvPr/>
        </p:nvSpPr>
        <p:spPr>
          <a:xfrm>
            <a:off x="703429" y="3144497"/>
            <a:ext cx="5836638" cy="39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Functional Coverage</a:t>
            </a:r>
            <a:endParaRPr lang="en-US" sz="25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839DED3C-430E-7381-551B-D8CA4E97D73D}"/>
              </a:ext>
            </a:extLst>
          </p:cNvPr>
          <p:cNvSpPr/>
          <p:nvPr/>
        </p:nvSpPr>
        <p:spPr>
          <a:xfrm>
            <a:off x="703429" y="5698646"/>
            <a:ext cx="4251603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stability under stall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Bounded liveness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stability under stall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0DEB8F-5966-C338-467F-B3F797262EC7}"/>
              </a:ext>
            </a:extLst>
          </p:cNvPr>
          <p:cNvSpPr/>
          <p:nvPr/>
        </p:nvSpPr>
        <p:spPr>
          <a:xfrm>
            <a:off x="628331" y="764381"/>
            <a:ext cx="8442603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Requirements Extraction &amp; RTM</a:t>
            </a:r>
            <a:endParaRPr lang="en-US" sz="415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BBDBCB-5659-3DE5-05E6-F16AAFC6D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998420"/>
              </p:ext>
            </p:extLst>
          </p:nvPr>
        </p:nvGraphicFramePr>
        <p:xfrm>
          <a:off x="628331" y="1428751"/>
          <a:ext cx="12875018" cy="6058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12">
                  <a:extLst>
                    <a:ext uri="{9D8B030D-6E8A-4147-A177-3AD203B41FA5}">
                      <a16:colId xmlns:a16="http://schemas.microsoft.com/office/drawing/2014/main" val="3119549516"/>
                    </a:ext>
                  </a:extLst>
                </a:gridCol>
                <a:gridCol w="5993205">
                  <a:extLst>
                    <a:ext uri="{9D8B030D-6E8A-4147-A177-3AD203B41FA5}">
                      <a16:colId xmlns:a16="http://schemas.microsoft.com/office/drawing/2014/main" val="338749771"/>
                    </a:ext>
                  </a:extLst>
                </a:gridCol>
                <a:gridCol w="2098183">
                  <a:extLst>
                    <a:ext uri="{9D8B030D-6E8A-4147-A177-3AD203B41FA5}">
                      <a16:colId xmlns:a16="http://schemas.microsoft.com/office/drawing/2014/main" val="1442164779"/>
                    </a:ext>
                  </a:extLst>
                </a:gridCol>
                <a:gridCol w="3539018">
                  <a:extLst>
                    <a:ext uri="{9D8B030D-6E8A-4147-A177-3AD203B41FA5}">
                      <a16:colId xmlns:a16="http://schemas.microsoft.com/office/drawing/2014/main" val="3822972231"/>
                    </a:ext>
                  </a:extLst>
                </a:gridCol>
              </a:tblGrid>
              <a:tr h="3362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Req ID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Description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Verification method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Planned Artifact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718603604"/>
                  </a:ext>
                </a:extLst>
              </a:tr>
              <a:tr h="4048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Synchronous Reset: Upon rst, registers return to reset values, pipeline flushes, and counters clear.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Simulation / RAL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ResetSequence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172747333"/>
                  </a:ext>
                </a:extLst>
              </a:tr>
              <a:tr h="380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R2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In-Order Processing: The CPM must preserve strict packet ordering under all conditions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CpmScoreboard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202106990"/>
                  </a:ext>
                </a:extLst>
              </a:tr>
              <a:tr h="3800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R3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Handshake Stability (In): If in_valid is high and in_ready is low, data signals must remain stable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 inside StreamInInterface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550829825"/>
                  </a:ext>
                </a:extLst>
              </a:tr>
              <a:tr h="4048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R4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Handshake Stability (Out): If out_valid is high and out_ready is low, data signals must remain stable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 inside StreamOutInterface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291481953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R5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Processing Mode 0 (PASS): payload_out = payload_in with 0 cycles latency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 /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810312061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R6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Processing Mode 1 (XOR): payload_out = payload_in ^ MASK with 1 cycle latency.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 /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66634319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R7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Processing Mode 2 (ADD): payload_out = payload_in + ADD_CONST with 2 cycles latency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 /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1190622114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R8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Processing Mode 3 (ROT): payload_out = rotate_left(payload_in, ROT_AMT) with 1 cycle latency.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 /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1430026777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R9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Configuration Sampling: Mode and parameters are sampled at in_fire.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 /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1503895507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R10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Packet Drop: Packets matching DROP_OPCODE when DROP_EN=1 are not produced at output.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SmokeTest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463964713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R11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Counter Invariant: COUNT_OUT + DROPPED_COUNT == COUNT_IN.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Scoreboard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CpmScoreboard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1054650215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R12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Backpressure: CPM must handle downstream stalls by deasserting in_ready.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Stress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Stress Test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1442927881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R13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Bounded Liveness: Accepted non-dropped packets must exit within spec-defined latency.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 inside StreamInInterface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2027889594"/>
                  </a:ext>
                </a:extLst>
              </a:tr>
              <a:tr h="4152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R14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Register Handshake: gnt is asserted whenever req is asserted (zero wait states).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>
                          <a:effectLst/>
                        </a:rPr>
                        <a:t>SVA</a:t>
                      </a:r>
                      <a:endParaRPr lang="en-US" sz="1200" kern="100" baseline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baseline="0" dirty="0">
                          <a:effectLst/>
                        </a:rPr>
                        <a:t>SVA inside </a:t>
                      </a:r>
                      <a:r>
                        <a:rPr lang="en-US" sz="1200" kern="100" baseline="0" dirty="0" err="1">
                          <a:effectLst/>
                        </a:rPr>
                        <a:t>RegCtrlInterface</a:t>
                      </a:r>
                      <a:endParaRPr lang="en-US" sz="1200" kern="100" baseline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213" marR="49213" marT="0" marB="0"/>
                </a:tc>
                <a:extLst>
                  <a:ext uri="{0D108BD9-81ED-4DB2-BD59-A6C34878D82A}">
                    <a16:rowId xmlns:a16="http://schemas.microsoft.com/office/drawing/2014/main" val="3173302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33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08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Design Spec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1733213"/>
            <a:ext cx="13042821" cy="1459192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1036645" y="1983943"/>
            <a:ext cx="12589193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CPM is a block that processes packages received on a streaming input interface and produces a modified packages on the output interface.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93789" y="3389275"/>
            <a:ext cx="7148732" cy="1946544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D94705E-9A89-410B-5BA1-F7FD94C80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233836"/>
              </p:ext>
            </p:extLst>
          </p:nvPr>
        </p:nvGraphicFramePr>
        <p:xfrm>
          <a:off x="8139391" y="3418699"/>
          <a:ext cx="5697220" cy="1917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82725">
                  <a:extLst>
                    <a:ext uri="{9D8B030D-6E8A-4147-A177-3AD203B41FA5}">
                      <a16:colId xmlns:a16="http://schemas.microsoft.com/office/drawing/2014/main" val="954901832"/>
                    </a:ext>
                  </a:extLst>
                </a:gridCol>
                <a:gridCol w="2518410">
                  <a:extLst>
                    <a:ext uri="{9D8B030D-6E8A-4147-A177-3AD203B41FA5}">
                      <a16:colId xmlns:a16="http://schemas.microsoft.com/office/drawing/2014/main" val="550985152"/>
                    </a:ext>
                  </a:extLst>
                </a:gridCol>
                <a:gridCol w="1696085">
                  <a:extLst>
                    <a:ext uri="{9D8B030D-6E8A-4147-A177-3AD203B41FA5}">
                      <a16:colId xmlns:a16="http://schemas.microsoft.com/office/drawing/2014/main" val="492032066"/>
                    </a:ext>
                  </a:extLst>
                </a:gridCol>
              </a:tblGrid>
              <a:tr h="2933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Mode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Operation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Latency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608173"/>
                  </a:ext>
                </a:extLst>
              </a:tr>
              <a:tr h="3853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PASS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payload_out = payload_in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 cycles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2942814"/>
                  </a:ext>
                </a:extLst>
              </a:tr>
              <a:tr h="3950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XOR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payload_in ^ MASK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1 cycles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8319313"/>
                  </a:ext>
                </a:extLst>
              </a:tr>
              <a:tr h="3950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ADD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payload_in + ADD_CONST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2 cycles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2283792"/>
                  </a:ext>
                </a:extLst>
              </a:tr>
              <a:tr h="4056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ROT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rotate_left</a:t>
                      </a:r>
                      <a:r>
                        <a:rPr lang="en-US" sz="1400" kern="100" dirty="0">
                          <a:effectLst/>
                        </a:rPr>
                        <a:t>(</a:t>
                      </a:r>
                      <a:r>
                        <a:rPr lang="en-US" sz="1400" kern="100" dirty="0" err="1">
                          <a:effectLst/>
                        </a:rPr>
                        <a:t>payload_in</a:t>
                      </a:r>
                      <a:r>
                        <a:rPr lang="en-US" sz="1400" kern="100" dirty="0">
                          <a:effectLst/>
                        </a:rPr>
                        <a:t>, ROT_AMT)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 cycles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9448895"/>
                  </a:ext>
                </a:extLst>
              </a:tr>
            </a:tbl>
          </a:graphicData>
        </a:graphic>
      </p:graphicFrame>
      <p:sp>
        <p:nvSpPr>
          <p:cNvPr id="13" name="Text 2">
            <a:extLst>
              <a:ext uri="{FF2B5EF4-FFF2-40B4-BE49-F238E27FC236}">
                <a16:creationId xmlns:a16="http://schemas.microsoft.com/office/drawing/2014/main" id="{10D0DEE0-9220-8E83-5FEB-42EA46FCC046}"/>
              </a:ext>
            </a:extLst>
          </p:cNvPr>
          <p:cNvSpPr/>
          <p:nvPr/>
        </p:nvSpPr>
        <p:spPr>
          <a:xfrm>
            <a:off x="944496" y="3635534"/>
            <a:ext cx="6732211" cy="1521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CPM is a block that processes packages received on a streaming input interface and produces a modified packages on the output interface.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">
            <a:extLst>
              <a:ext uri="{FF2B5EF4-FFF2-40B4-BE49-F238E27FC236}">
                <a16:creationId xmlns:a16="http://schemas.microsoft.com/office/drawing/2014/main" id="{6BFA3757-113B-BDCB-092C-3FC2FE2B98E1}"/>
              </a:ext>
            </a:extLst>
          </p:cNvPr>
          <p:cNvSpPr/>
          <p:nvPr/>
        </p:nvSpPr>
        <p:spPr>
          <a:xfrm>
            <a:off x="425302" y="1482366"/>
            <a:ext cx="5677786" cy="4955389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" name="Text 0"/>
          <p:cNvSpPr/>
          <p:nvPr/>
        </p:nvSpPr>
        <p:spPr>
          <a:xfrm>
            <a:off x="793790" y="573827"/>
            <a:ext cx="76721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Verification Environment</a:t>
            </a:r>
            <a:endParaRPr lang="en-US" sz="46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E1A864-A637-6EE5-A563-EEA47879F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68" y="1391336"/>
            <a:ext cx="8188780" cy="5148043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27E34DF1-60C2-94E9-FA0E-3B679510E805}"/>
              </a:ext>
            </a:extLst>
          </p:cNvPr>
          <p:cNvSpPr/>
          <p:nvPr/>
        </p:nvSpPr>
        <p:spPr>
          <a:xfrm>
            <a:off x="627318" y="1599957"/>
            <a:ext cx="5305647" cy="4588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The Environment includes 3 active agents, one for each interface.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CpmInputAgent: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 Run the Streaming Interface.</a:t>
            </a: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CpmOutputAgent: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 Act as an output master</a:t>
            </a: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CpmRegCtrlAgent: 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Master Registers via RAL.</a:t>
            </a: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Virtual Sequence: 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Connects between all the sequences.</a:t>
            </a: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RAL (Register Access Layer) 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: Holds the register map.</a:t>
            </a:r>
            <a:endParaRPr lang="en-US" sz="1600" b="1" dirty="0">
              <a:solidFill>
                <a:srgbClr val="383838"/>
              </a:solidFill>
              <a:latin typeface="PT Serif" pitchFamily="34" charset="0"/>
            </a:endParaRP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Scoreboard/Reference Model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: Collects transactions and compare them with a reference model.</a:t>
            </a:r>
          </a:p>
          <a:p>
            <a:pPr>
              <a:lnSpc>
                <a:spcPts val="2900"/>
              </a:lnSpc>
            </a:pPr>
            <a:r>
              <a:rPr lang="en-US" sz="1600" b="1" dirty="0">
                <a:solidFill>
                  <a:srgbClr val="383838"/>
                </a:solidFill>
                <a:latin typeface="PT Serif" pitchFamily="34" charset="0"/>
              </a:rPr>
              <a:t>Coverage Collector</a:t>
            </a:r>
            <a:r>
              <a:rPr lang="en-US" sz="1600" dirty="0">
                <a:solidFill>
                  <a:srgbClr val="383838"/>
                </a:solidFill>
                <a:latin typeface="PT Serif" pitchFamily="34" charset="0"/>
              </a:rPr>
              <a:t>: Collects The Modes and packages properties into covergroups.</a:t>
            </a:r>
          </a:p>
          <a:p>
            <a:pPr>
              <a:lnSpc>
                <a:spcPts val="2900"/>
              </a:lnSpc>
            </a:pPr>
            <a:endParaRPr lang="en-US" sz="1600" dirty="0">
              <a:solidFill>
                <a:srgbClr val="383838"/>
              </a:solidFill>
              <a:latin typeface="PT Serif" pitchFamily="34" charset="0"/>
            </a:endParaRPr>
          </a:p>
          <a:p>
            <a:pPr>
              <a:lnSpc>
                <a:spcPts val="29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51391"/>
            <a:ext cx="9496306" cy="726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SmokeTest: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775216" y="1464469"/>
            <a:ext cx="4651296" cy="58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775215" y="3229073"/>
            <a:ext cx="4651297" cy="1693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</a:rPr>
              <a:t>PASS mode, XOR mode, ADD mode, ROT mode.</a:t>
            </a:r>
          </a:p>
          <a:p>
            <a:pPr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</a:rPr>
              <a:t>Checks the RAL’s Counter for validation.</a:t>
            </a:r>
          </a:p>
        </p:txBody>
      </p:sp>
      <p:sp>
        <p:nvSpPr>
          <p:cNvPr id="12" name="Text 3"/>
          <p:cNvSpPr/>
          <p:nvPr/>
        </p:nvSpPr>
        <p:spPr>
          <a:xfrm>
            <a:off x="4034367" y="7295962"/>
            <a:ext cx="1321331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most critical part of the workshop.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A1B1A4-8F92-3AD2-B3B3-3967C7A0A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358" y="1378029"/>
            <a:ext cx="8819672" cy="5153744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775215" y="2197511"/>
            <a:ext cx="4651296" cy="1109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simple traffics over a </a:t>
            </a:r>
          </a:p>
          <a:p>
            <a:pPr marL="0" indent="0" algn="l">
              <a:lnSpc>
                <a:spcPts val="34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couple of modes for sanity check.</a:t>
            </a:r>
            <a:endParaRPr lang="en-US" sz="2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3EDD46-BD31-164B-E43A-DAE81556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9461"/>
            <a:ext cx="12645678" cy="520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51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2961"/>
            <a:ext cx="772120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StressTest</a:t>
            </a: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: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667947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260354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different modes with backpressure.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36270"/>
            <a:ext cx="10775275" cy="736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C: Inspect the Generated RAL Model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85813" y="1461849"/>
            <a:ext cx="4715351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85813" y="2384584"/>
            <a:ext cx="13058775" cy="446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what RAL gives you for free — and what it does not.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5813" y="3164681"/>
            <a:ext cx="3536513" cy="441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C1. Generated Code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85813" y="4162187"/>
            <a:ext cx="2947035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Open: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85813" y="4752618"/>
            <a:ext cx="4214574" cy="365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Verification/ral/stu_ral.sv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5813" y="5339834"/>
            <a:ext cx="2947035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Locate: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85813" y="5930265"/>
            <a:ext cx="4214574" cy="1429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stu_ral_model class (uvm_reg_block)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least one uvm_reg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least one uvm_reg_field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555694" y="4190048"/>
            <a:ext cx="8296513" cy="2810828"/>
          </a:xfrm>
          <a:prstGeom prst="roundRect">
            <a:avLst>
              <a:gd name="adj" fmla="val 1198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127" y="4525566"/>
            <a:ext cx="280630" cy="2244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85190" y="4468297"/>
            <a:ext cx="734258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are not expected to understand every line.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5190" y="5025747"/>
            <a:ext cx="734258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are expected to understand: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285190" y="5583198"/>
            <a:ext cx="7342584" cy="1072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registers map to addresses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fields map to bits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reset values are defined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191" y="663416"/>
            <a:ext cx="3457218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D2. File to Edit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8191" y="1626632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Open: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68191" y="2199203"/>
            <a:ext cx="4234696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Verification/ral/stu_reg_adapter.sv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546050" y="1626632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must implement: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546050" y="2199203"/>
            <a:ext cx="8323659" cy="69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reg2bus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bus2reg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546050" y="3081404"/>
            <a:ext cx="8323659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not guess. Think carefully about who calls these functions and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8191" y="3936630"/>
            <a:ext cx="5367457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D3. Concept Check (Before Coding)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68191" y="4687438"/>
            <a:ext cx="1309401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should be able to reason about: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191" y="5271916"/>
            <a:ext cx="13094018" cy="138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calls reg2bus()?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calls bus2reg()?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does RAL care about write data?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does prediction exist at all?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191" y="6893084"/>
            <a:ext cx="1309401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these are unclear — that is expected at this stage.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9127" y="947857"/>
            <a:ext cx="8417123" cy="54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E: Integrate RAL into the Environment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589127" y="1540788"/>
            <a:ext cx="3485317" cy="435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89127" y="2158365"/>
            <a:ext cx="11452027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Wire the RAL model into the UVM environment so it stays synchronized with hardware.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89127" y="2627709"/>
            <a:ext cx="2614017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E1. File to Edit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589127" y="3257907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89127" y="3651528"/>
            <a:ext cx="374499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Verification/env/stu_env.sv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46552" y="3257907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will: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46552" y="3651528"/>
            <a:ext cx="7302103" cy="11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Instantiate the RAL model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Instantiate the adapter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Instantiate the predictor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predictor to the monitor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Bind the register map to the sequencer and adapter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89127" y="5025617"/>
            <a:ext cx="287905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E2. Integration Checklist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589127" y="5534490"/>
            <a:ext cx="11452027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compiling, confirm: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89127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1777841" y="6089678"/>
            <a:ext cx="2394585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register model is built (</a:t>
            </a:r>
            <a:r>
              <a:rPr lang="en-US" sz="13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build()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2465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671179" y="6089678"/>
            <a:ext cx="239458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adapter is assigned to the map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75803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7564517" y="6089678"/>
            <a:ext cx="239458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predictor listens to the monitor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269141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10457855" y="6089678"/>
            <a:ext cx="239458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predictor knows which adapter to 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89127" y="6882396"/>
            <a:ext cx="11452027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any one of these leads to silent errors.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5846"/>
            <a:ext cx="730150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F: Compile and Reason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89083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282642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 behavior and reason about architecture — not write tests yet.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20095"/>
            <a:ext cx="5401747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Think Like a Verification Engineer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3790" y="44068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yourself: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33951" y="5228987"/>
            <a:ext cx="1270265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hardware updates a status register internally, who updates the model?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mirrored values are wrong, where would you debug?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breaks if the adapter is incorrect but simulation still runs?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024914"/>
            <a:ext cx="30480" cy="1530668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793790" y="66522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questions matter more than finishing code.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1044</Words>
  <Application>Microsoft Office PowerPoint</Application>
  <PresentationFormat>Custom</PresentationFormat>
  <Paragraphs>183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DM Sans Bold</vt:lpstr>
      <vt:lpstr>Consolas</vt:lpstr>
      <vt:lpstr>DM Sans</vt:lpstr>
      <vt:lpstr>Aptos</vt:lpstr>
      <vt:lpstr>PT Serif</vt:lpstr>
      <vt:lpstr>Arial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Nadav Talmon</dc:creator>
  <cp:lastModifiedBy>Meitar Shimoni</cp:lastModifiedBy>
  <cp:revision>65</cp:revision>
  <dcterms:created xsi:type="dcterms:W3CDTF">2026-02-05T20:46:30Z</dcterms:created>
  <dcterms:modified xsi:type="dcterms:W3CDTF">2026-02-20T16:37:46Z</dcterms:modified>
</cp:coreProperties>
</file>